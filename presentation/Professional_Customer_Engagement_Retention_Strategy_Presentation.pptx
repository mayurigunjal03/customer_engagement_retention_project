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300" y="-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9547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000" dirty="0"/>
              <a:t>Customer Engagement &amp; Product Utilization Analytics for Retention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3455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Submitted By: Mayuri Gunjal</a:t>
            </a:r>
          </a:p>
          <a:p>
            <a:pPr>
              <a:defRPr sz="2000"/>
            </a:pPr>
            <a:r>
              <a:t>Unified Mentor | The European Central Bank</a:t>
            </a:r>
          </a:p>
          <a:p>
            <a:pPr>
              <a:defRPr sz="2000"/>
            </a:pPr>
            <a:r>
              <a:t>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Customer Engagement &amp; Product Utilization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Analyze customer engagement and product utilization.</a:t>
            </a:r>
          </a:p>
          <a:p>
            <a:pPr>
              <a:defRPr sz="2000"/>
            </a:pPr>
            <a:r>
              <a:t>• Identify retention drivers and high-risk customers.</a:t>
            </a:r>
          </a:p>
          <a:p>
            <a:pPr>
              <a:defRPr sz="2000"/>
            </a:pPr>
            <a:r>
              <a:t>• Support data-driven customer retention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Customer Engagement &amp; Product Utilization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Banks lack engagement-driven retention insights.</a:t>
            </a:r>
          </a:p>
          <a:p>
            <a:pPr>
              <a:defRPr sz="2000"/>
            </a:pPr>
            <a:r>
              <a:t>• Generic retention strategies increase churn risk.</a:t>
            </a:r>
          </a:p>
          <a:p>
            <a:pPr>
              <a:defRPr sz="2000"/>
            </a:pPr>
            <a:r>
              <a:t>• High-value customers may silently churn.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Customer Engagement &amp; Product Utilization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Evaluate engagement and churn relationship.</a:t>
            </a:r>
          </a:p>
          <a:p>
            <a:pPr>
              <a:defRPr sz="2000"/>
            </a:pPr>
            <a:r>
              <a:t>• Measure product utilization impact.</a:t>
            </a:r>
          </a:p>
          <a:p>
            <a:pPr>
              <a:defRPr sz="2000"/>
            </a:pPr>
            <a:r>
              <a:t>• Identify at-risk premium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Customer Engagement &amp; Product Utilization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European Bank Customer Dataset</a:t>
            </a:r>
          </a:p>
          <a:p>
            <a:pPr>
              <a:defRPr sz="2000"/>
            </a:pPr>
            <a:r>
              <a:t>10,000 customer records and 14 variables.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Customer Engagement &amp; Product Utilization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Analytical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Data Validation</a:t>
            </a:r>
          </a:p>
          <a:p>
            <a:pPr>
              <a:defRPr sz="2000"/>
            </a:pPr>
            <a:r>
              <a:t>• Exploratory Data Analysis (EDA)</a:t>
            </a:r>
          </a:p>
          <a:p>
            <a:pPr>
              <a:defRPr sz="2000"/>
            </a:pPr>
            <a:r>
              <a:t>• Customer Segmentation</a:t>
            </a:r>
          </a:p>
          <a:p>
            <a:pPr>
              <a:defRPr sz="2000"/>
            </a:pPr>
            <a:r>
              <a:t>• KPI Development</a:t>
            </a:r>
          </a:p>
          <a:p>
            <a:pPr>
              <a:defRPr sz="2000"/>
            </a:pPr>
            <a:r>
              <a:t>• Dashboard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Customer Engagement &amp; Product Utilization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Customer Engagement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0322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Active Customer Churn Rate: 14.27%</a:t>
            </a:r>
          </a:p>
          <a:p>
            <a:pPr>
              <a:defRPr sz="2000"/>
            </a:pPr>
            <a:r>
              <a:rPr dirty="0"/>
              <a:t>Inactive Customer Churn Rate: 26.85%</a:t>
            </a:r>
            <a:endParaRPr lang="en-IN" dirty="0"/>
          </a:p>
          <a:p>
            <a:pPr>
              <a:defRPr sz="2000"/>
            </a:pPr>
            <a:endParaRPr lang="en-IN" dirty="0"/>
          </a:p>
          <a:p>
            <a:pPr>
              <a:defRPr sz="2000"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Customer Engagement &amp; Product Utilization Analytics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44928B-2755-7905-BB71-4F0158753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19" y="2531760"/>
            <a:ext cx="6629557" cy="32624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Product Utilization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3070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dirty="0"/>
              <a:t> Product</a:t>
            </a:r>
            <a:r>
              <a:rPr lang="en-IN" dirty="0"/>
              <a:t> 1 </a:t>
            </a:r>
            <a:r>
              <a:rPr dirty="0"/>
              <a:t>: </a:t>
            </a:r>
            <a:r>
              <a:rPr lang="en-IN" dirty="0"/>
              <a:t>28</a:t>
            </a:r>
            <a:r>
              <a:rPr dirty="0"/>
              <a:t>% churn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dirty="0"/>
              <a:t> Products</a:t>
            </a:r>
            <a:r>
              <a:rPr lang="en-IN" dirty="0"/>
              <a:t>2 </a:t>
            </a:r>
            <a:r>
              <a:rPr dirty="0"/>
              <a:t>: </a:t>
            </a:r>
            <a:r>
              <a:rPr lang="en-IN" dirty="0"/>
              <a:t>8%</a:t>
            </a:r>
            <a:r>
              <a:rPr dirty="0"/>
              <a:t> churn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dirty="0"/>
              <a:t> Products</a:t>
            </a:r>
            <a:r>
              <a:rPr lang="en-IN" dirty="0"/>
              <a:t>3 </a:t>
            </a:r>
            <a:r>
              <a:rPr dirty="0"/>
              <a:t>: 8</a:t>
            </a:r>
            <a:r>
              <a:rPr lang="en-IN" dirty="0"/>
              <a:t>3</a:t>
            </a:r>
            <a:r>
              <a:rPr dirty="0"/>
              <a:t>% churn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dirty="0"/>
              <a:t> Products</a:t>
            </a:r>
            <a:r>
              <a:rPr lang="en-IN" dirty="0"/>
              <a:t>4 </a:t>
            </a:r>
            <a:r>
              <a:rPr dirty="0"/>
              <a:t>: 100%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Customer Engagement &amp; Product Utilization Analytics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0C7683-0635-B7DF-5286-0CB34A815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475" y="3067050"/>
            <a:ext cx="5250169" cy="2559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Engagement Retention Ratio</a:t>
            </a:r>
          </a:p>
          <a:p>
            <a:pPr>
              <a:defRPr sz="2000"/>
            </a:pPr>
            <a:r>
              <a:t>• Product Depth Index</a:t>
            </a:r>
          </a:p>
          <a:p>
            <a:pPr>
              <a:defRPr sz="2000"/>
            </a:pPr>
            <a:r>
              <a:t>• Credit Card Stickiness Score</a:t>
            </a:r>
          </a:p>
          <a:p>
            <a:pPr>
              <a:defRPr sz="2000"/>
            </a:pPr>
            <a:r>
              <a:t>• Relationship Strength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Customer Engagement &amp; Product Utilization Analytics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C36879-AC87-22EA-A1D9-FB83DA194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63" y="3003082"/>
            <a:ext cx="6850624" cy="24827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Active Engaged Customers: 2,588</a:t>
            </a:r>
          </a:p>
          <a:p>
            <a:pPr>
              <a:defRPr sz="2000"/>
            </a:pPr>
            <a:r>
              <a:t>• Active Low Product Customers: 2,563</a:t>
            </a:r>
          </a:p>
          <a:p>
            <a:pPr>
              <a:defRPr sz="2000"/>
            </a:pPr>
            <a:r>
              <a:t>• Inactive High Balance Customers: 2,456</a:t>
            </a:r>
          </a:p>
          <a:p>
            <a:pPr>
              <a:defRPr sz="2000"/>
            </a:pPr>
            <a:r>
              <a:t>• Inactive Disengaged Customers: 878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Customer Engagement &amp; Product Utilization Analytics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5A1AD-24A9-E14C-300F-3D1D34634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99" y="3070458"/>
            <a:ext cx="5820721" cy="27715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Customer engagement strongly impacts retention.</a:t>
            </a:r>
          </a:p>
          <a:p>
            <a:pPr>
              <a:defRPr sz="2000"/>
            </a:pPr>
            <a:r>
              <a:t>• High balance does not guarantee loyalty.</a:t>
            </a:r>
          </a:p>
          <a:p>
            <a:pPr>
              <a:defRPr sz="2000"/>
            </a:pPr>
            <a:r>
              <a:t>• Product depth significantly influences churn.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Customer Engagement &amp; Product Utilization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Increase engagement initiatives.</a:t>
            </a:r>
          </a:p>
          <a:p>
            <a:pPr>
              <a:defRPr sz="2000"/>
            </a:pPr>
            <a:r>
              <a:t>• Target inactive premium customers.</a:t>
            </a:r>
          </a:p>
          <a:p>
            <a:pPr>
              <a:defRPr sz="2000"/>
            </a:pPr>
            <a:r>
              <a:t>• Improve cross-selling strategies.</a:t>
            </a:r>
          </a:p>
          <a:p>
            <a:pPr>
              <a:defRPr sz="2000"/>
            </a:pPr>
            <a:r>
              <a:t>• Personalize retention campaigns.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Customer Engagement &amp; Product Utilization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Behavioral analytics and product utilization provide strong indicators of customer retention and long-term loyalty.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Customer Engagement &amp; Product Utilization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Customer Engagement &amp; Product Utilization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375</Words>
  <Application>Microsoft Office PowerPoint</Application>
  <PresentationFormat>On-screen Show (4:3)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Rushikesh Gunjal</cp:lastModifiedBy>
  <cp:revision>2</cp:revision>
  <dcterms:created xsi:type="dcterms:W3CDTF">2013-01-27T09:14:16Z</dcterms:created>
  <dcterms:modified xsi:type="dcterms:W3CDTF">2026-06-17T15:13:09Z</dcterms:modified>
  <cp:category/>
</cp:coreProperties>
</file>